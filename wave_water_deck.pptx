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914400"/>
            <a:ext cx="10332720" cy="1737360"/>
          </a:xfrm>
        </p:spPr>
        <p:txBody>
          <a:bodyPr/>
          <a:lstStyle/>
          <a:p>
            <a:r>
              <a:rPr sz="3400" b="1">
                <a:solidFill>
                  <a:srgbClr val="1F4E79"/>
                </a:solidFill>
              </a:rPr>
              <a:t>ระบบผลิตไฟฟ้าจากพลังงานทะเลและแสงอาทิตย์</a:t>
            </a:r>
          </a:p>
          <a:p>
            <a:r>
              <a:rPr sz="3400" b="1">
                <a:solidFill>
                  <a:srgbClr val="1F4E79"/>
                </a:solidFill>
              </a:rPr>
              <a:t>ร่วมกับระบบผลิตน้ำจืด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222222"/>
                </a:solidFill>
              </a:rPr>
              <a:t>Problem–Solution Fit · ผลการศึกษาขั้นต้น · แนวทางนำไปใช้จริง · หลักฐานเชิงข้อมูล</a:t>
            </a:r>
          </a:p>
          <a:p>
            <a:pPr algn="ctr"/>
            <a:r>
              <a:rPr sz="1600">
                <a:solidFill>
                  <a:srgbClr val="222222"/>
                </a:solidFill>
              </a:rPr>
              <a:t>พื้นที่เป้าหมาย: ชุมชนชายฝั่งและเกาะที่มีข้อจำกัดด้านการส่งไฟฟ้าและการจัดหาน้ำจืด</a:t>
            </a:r>
          </a:p>
          <a:p>
            <a:pPr algn="ctr"/>
            <a:r>
              <a:rPr sz="1600">
                <a:solidFill>
                  <a:srgbClr val="222222"/>
                </a:solidFill>
              </a:rPr>
              <a:t>ขอบเขต: Idea Stage → ต้นแบบทดสอบในบ่อพลังงาน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868680"/>
          </a:xfrm>
        </p:spPr>
        <p:txBody>
          <a:bodyPr/>
          <a:lstStyle/>
          <a:p>
            <a:r>
              <a:rPr sz="2600" b="1">
                <a:solidFill>
                  <a:srgbClr val="1F4E79"/>
                </a:solidFill>
              </a:rPr>
              <a:t>วาระการนำเสนอ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19933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840480"/>
                <a:gridCol w="612648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หัวข้อ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คำถามที่ตอบ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Problem–Solution 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โจทย์กับโซลูชันสัมพันธ์กันอย่างไร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ผลการศึกษาขั้นต้น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เรารู้อะไรแล้ว และยังไม่รู้อะไร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แนวทางนำไปปฏิบัติ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ทำเป็นระบบที่ใช้ได้จริงได้อย่างไร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หลักฐานเชิงข้อมูล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ตัวเลขที่รองรับอยู่ตรงไหน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06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868680"/>
          </a:xfrm>
        </p:spPr>
        <p:txBody>
          <a:bodyPr/>
          <a:lstStyle/>
          <a:p>
            <a:r>
              <a:rPr sz="3000" b="1">
                <a:solidFill>
                  <a:srgbClr val="1F4E79"/>
                </a:solidFill>
              </a:rPr>
              <a:t>Problem: โจทย์คืออะไร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417320"/>
            <a:ext cx="10972800" cy="475488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</a:rPr>
              <a:t>โจทย์ 1 — ไฟฟ้า: พื้นที่ชายฝั่งและเกาะมีข้อจำกัดด้านการส่งไฟฟ้าและการจัดหาน้ำจืด จึงนำพลังงานน้ำขึ้น–น้ำลง คลื่น และแสงอาทิตย์มาใช้ร่วมกัน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</a:rPr>
              <a:t>โจทย์ 2 — น้ำ: ระบบผลิตน้ำจืดที่พึ่งพาพลังงานหมุนเวียน 100% เผชิญความท้าทายใหญ่ที่สุดคือความไม่เสถียรและช่วงเวลาที่พลังงานขาดช่วง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22222"/>
                </a:solidFill>
              </a:rPr>
              <a:t>โจทย์ 3 — ความเชื่อมโยง: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606060"/>
                </a:solidFill>
              </a:rPr>
              <a:t>RO ต้องการแรงดันสูงมาก (ประมาณ 55–80 bar สำหรับน้ำทะเล) ทำให้ใช้พลังงานไฟฟ้าสูง และอ่อนไหวต่อสิ่งสกปรกแขวนลอย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606060"/>
                </a:solidFill>
              </a:rPr>
              <a:t>เมื่อกำลังไฟลดลง อัตราการไหลและความเร็ว crossflow ลดลง เกลือสะสมที่ผิวเยื่อและแพร่ผ่านเยื่อมากขึ้น คุณภาพน้ำจืดจึงลดลง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606060"/>
                </a:solidFill>
              </a:rPr>
              <a:t>การเดินเครื่องแบบไม่ต่อเนื่องเป็นสาเหตุที่อาจทำให้เกิดความเสียหายทางกายภาพและสูญเสียความสมบูรณ์ของเมมเบร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06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868680"/>
          </a:xfrm>
        </p:spPr>
        <p:txBody>
          <a:bodyPr/>
          <a:lstStyle/>
          <a:p>
            <a:r>
              <a:rPr sz="3000" b="1">
                <a:solidFill>
                  <a:srgbClr val="1F4E79"/>
                </a:solidFill>
              </a:rPr>
              <a:t>Solution: สถาปัตยกรรม 7 ระบบย่อย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417320"/>
            <a:ext cx="10972800" cy="475488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222222"/>
                </a:solidFill>
              </a:rPr>
              <a:t>ระบบย่อยที่เชื่อมกันผ่านระบบจัดการพลังงานและระบบควบคุมกลาง: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606060"/>
                </a:solidFill>
              </a:rPr>
              <a:t>ระบบรับน้ำทะเลและผลิตไฟฟ้าจากกังหันน้ำ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606060"/>
                </a:solidFill>
              </a:rPr>
              <a:t>ระบบบ่อพลังงาน ทุ่น และกลไกแปลงการเคลื่อนที่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606060"/>
                </a:solidFill>
              </a:rPr>
              <a:t>ระบบ Solar Cell และไฟฟ้าสำรอง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606060"/>
                </a:solidFill>
              </a:rPr>
              <a:t>ระบบพักน้ำดิบและกรองขั้นต้น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606060"/>
                </a:solidFill>
              </a:rPr>
              <a:t>ระบบแยกเกลือและปรับคุณภาพน้ำ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606060"/>
                </a:solidFill>
              </a:rPr>
              <a:t>ระบบถังน้ำสะอาดและจัดการน้ำเกลือเข้มข้น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22222"/>
                </a:solidFill>
              </a:rPr>
              <a:t>เส้นทางพลังงาน/น้ำ: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606060"/>
                </a:solidFill>
              </a:rPr>
              <a:t>คลื่นธรรมชาติ → ทุ่นลอย + มวลถ่วง → PTO → BESS → ระบบควบคุมกลาง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606060"/>
                </a:solidFill>
              </a:rPr>
              <a:t>Solar PV → BESS → ระบบควบคุมกลาง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606060"/>
                </a:solidFill>
              </a:rPr>
              <a:t>ระบบควบคุมกลาง → ปั๊มแรงดันสูง RO / ED–EDR → ถังน้ำจืดสำรอง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606060"/>
                </a:solidFill>
              </a:rPr>
              <a:t>น้ำเกลือเข้มข้น → Diffuser / แนวทางใช้ประโยชน์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7220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06060"/>
                </a:solidFill>
              </a:defRPr>
            </a:pPr>
            <a:r>
              <a:t>จุดต่างจากโครงงานทั่วไป: ถังน้ำจืดสำรองทำหน้าที่เป็นบัฟเฟอร์ร่วมกับแบตเตอรี่ ไม่ใช่ปลายทาง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06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868680"/>
          </a:xfrm>
        </p:spPr>
        <p:txBody>
          <a:bodyPr/>
          <a:lstStyle/>
          <a:p>
            <a:r>
              <a:rPr sz="2600" b="1">
                <a:solidFill>
                  <a:srgbClr val="1F4E79"/>
                </a:solidFill>
              </a:rPr>
              <a:t>Problem–Solution Fit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5120640"/>
                <a:gridCol w="310896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ปัญหา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กลไกของโซลูชัน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ตัวชี้วัดที่พิสูจน์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พื้นที่เกาะไม่มีไฟเสถียร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กังหันน้ำ + ทุ่น + PV + BESS จัดสรรผ่านระบบควบคุม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พลังงานสุทธิ (kWh)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คลื่น/แดดขาดช่วง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BESS + Smart Load Prioritization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ความถี่ที่ปั๊มเดินได้ต่อวัน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น้ำจืดไม่มี/แพง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แยกเกลือด้วย ED หรือ 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SEC (kWh/m³), Recovery (%)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น้ำเกลือกระทบสิ่งแวดล้อม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ถังแยก + Diffuser + แนวทางใช้ประโยชน์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ความเค็มที่จุดระบาย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ระบบยังพิสูจน์ไม่ได้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ต้นแบบ + ข้อมูลจริง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ต้องมีผลการทดลองจริง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9436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06060"/>
                </a:solidFill>
              </a:defRPr>
            </a:pPr>
            <a:r>
              <a:t>ทุกแถวต้องมีตัวชี้วัด ไม่ใช่แค่คำอธิบาย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06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868680"/>
          </a:xfrm>
        </p:spPr>
        <p:txBody>
          <a:bodyPr/>
          <a:lstStyle/>
          <a:p>
            <a:r>
              <a:rPr sz="3000" b="1">
                <a:solidFill>
                  <a:srgbClr val="1F4E79"/>
                </a:solidFill>
              </a:rPr>
              <a:t>จุดที่ต้องแก้กรอบคิด (และเราแก้แล้ว)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417320"/>
            <a:ext cx="10972800" cy="475488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</a:rPr>
              <a:t>สิ่งที่ต้องยอมรับก่อน: หากใช้พลังงานไฟฟ้าขับมอเตอร์ดึงมวลถ่วงขึ้น–ลง พลังงานที่ได้กลับมามีค่าน้อยกว่าพลังงานที่จ่ายเข้าไปเสมอ (Net Energy Output &lt; 0) เพราะมีการสูญเสียในกระบวนการแปลงผัน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</a:rPr>
              <a:t>กรอบใหม่ที่ถูกต้อง: เปลี่ยนมุมมองจาก “เครื่องสร้างคลื่น” เป็น “เครื่องแปลงพลังงานคลื่นแบบทุ่นลอย” (Point Absorber WEC)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606060"/>
                </a:solidFill>
              </a:rPr>
              <a:t>มวลถ่วงทำหน้าที่ปรับคาบการสั่นให้เข้ากับคาบคลื่น เพื่อเพิ่มระยะชัก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606060"/>
                </a:solidFill>
              </a:rPr>
              <a:t>และช่วยถ่วงรั้งให้เกิดแรงดึงที่มากพอขับ PTO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06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868680"/>
          </a:xfrm>
        </p:spPr>
        <p:txBody>
          <a:bodyPr/>
          <a:lstStyle/>
          <a:p>
            <a:r>
              <a:rPr sz="3000" b="1">
                <a:solidFill>
                  <a:srgbClr val="1F4E79"/>
                </a:solidFill>
              </a:rPr>
              <a:t>ข้อจำกัดที่เรายอมรับตรง 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417320"/>
            <a:ext cx="10972800" cy="475488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</a:rPr>
              <a:t>ในสภาพจริง ความถี่คลื่นตกได้ต่ำถึง 0.1 Hz ทำให้ทุ่นต้องมีโครงสร้างขนาดใหญ่เพื่อเรโซแนนซ์ ซึ่งยาก แพง และไม่สมจริง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</a:rPr>
              <a:t>ประสิทธิภาพลดลงอย่างรวดเร็วเมื่อความถี่คลื่นเบี่ยงออกจากความถี่ธรรมชาติ โดยเฉพาะเมื่อค่า PTO damping ต่ำ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</a:rPr>
              <a:t>ในเวลาเดียวกัน แรงหน่วงจากการลาก (drag damping) ก็ส่งผลด้านลบต่อการดูดกลืนพลังงาน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</a:rPr>
              <a:t>ทางแก้ที่งานวิจัยรองรับ: ใช้มวลเฉื่อยปรับตั้ง (tuned inertial mass) ซึ่งเพิ่มการดูดกลืนกำลังและขยายแบนด์ความถี่ที่ได้ผล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606060"/>
                </a:solidFill>
              </a:rPr>
              <a:t>ในสภาวะที่เกิดเรโซแนนซ์ กำลังผลิตของระบบ TIM สูงกว่ากำลังของระบบ SDOF ธรรมดามากกว่าสองเท่า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06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868680"/>
          </a:xfrm>
        </p:spPr>
        <p:txBody>
          <a:bodyPr/>
          <a:lstStyle/>
          <a:p>
            <a:r>
              <a:rPr sz="2600" b="1">
                <a:solidFill>
                  <a:srgbClr val="1F4E79"/>
                </a:solidFill>
              </a:rPr>
              <a:t>ทรัพยากรคลื่นในพื้นที่: ข้อเท็จจริงที่ต้องพูดก่อนออกแบบ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3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955279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ประเด็น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ข้อมูล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อ่าวไทย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พลังงานคลื่นต่ำ — ฟลักซ์น้อยกว่า 4 kW/m ทุกฤดูกาล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ทะเลจีนใต้ (จุดที่คลื่นดี)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ฟลักซ์เฉลี่ยรายปี 10–18 kW/m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ฝั่งอันดามัน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ชายฝั่งภูเก็ตและพังงาเหมาะสม เพราะมีความสูงคลื่นนัยสำคัญสูง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สถานีที่ดีที่สุด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อ่าวไทย = P5 (กุยบุรี ประจวบคีรีขันธ์) / อันดามัน = P12 (เมืองระนอง)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เหตุผลเชิงกายภาพ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อ่าวไทยลึกเฉลี่ย 45 ม. (ลึกสุด 80 ม.) ขณะที่อันดามันลึกเฉลี่ย ~1,096 ม.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9436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06060"/>
                </a:solidFill>
              </a:defRPr>
            </a:pPr>
            <a:r>
              <a:t>นัยเชิงออกแบบ: หากเลือกพื้นที่อ่าวไทย ต้องลดบทบาท WEC เป็นระบบสาธิต และยกน้ำหนักให้กังหันน้ำ/กระแสน้ำ + PV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06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868680"/>
          </a:xfrm>
        </p:spPr>
        <p:txBody>
          <a:bodyPr/>
          <a:lstStyle/>
          <a:p>
            <a:r>
              <a:rPr sz="2600" b="1">
                <a:solidFill>
                  <a:srgbClr val="1F4E79"/>
                </a:solidFill>
              </a:rPr>
              <a:t>ED vs RO: หลักการและข้อจำกัด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4480560"/>
                <a:gridCol w="4663440"/>
              </a:tblGrid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Electrodialysis (ED)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Reverse Osmosis (RO)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แรงขับ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สนามไฟฟ้ากระแสตรงดึงไอออนผ่านเยื่อเลือกผ่าน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ปั๊มแรงดันสูงเอาชนะแรงดันออสโมติก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เหมาะกับ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น้ำกร่อย ความเค็มต่ำกว่า 10,000 ppm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น้ำทะเล ลด TDS จาก 35,000 ppm เหลือ &lt;500 ppm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ข้อจำกัดหลัก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Concentration polarization → เยื่อเสื่อมสภาพเร็ว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แรงดัน 55–80 bar → กินไฟสูง และไวต่อ turbidity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9436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06060"/>
                </a:solidFill>
              </a:defRPr>
            </a:pPr>
            <a:r>
              <a:t>โครงการเปรียบเทียบความเค็มน้ำดิบ คุณภาพน้ำที่ได้ อัตราการผลิต พลังงานที่ใช้ การดูแลเยื่อ และปริมาณน้ำเกลือเข้มข้น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06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868680"/>
          </a:xfrm>
        </p:spPr>
        <p:txBody>
          <a:bodyPr/>
          <a:lstStyle/>
          <a:p>
            <a:r>
              <a:rPr sz="2600" b="1">
                <a:solidFill>
                  <a:srgbClr val="1F4E79"/>
                </a:solidFill>
              </a:rPr>
              <a:t>ข้อมูลพลังงานจำเพาะ: ED ชนะที่น้ำกร่อย · RO ชนะที่น้ำทะเล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2761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57784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ระบบ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SEC (kWh/m³)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SWRO (มี ERD)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4–6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SWRO (ไม่มี ERD)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7–13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BWRO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0.5–2.5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ED (ทั่วไป)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0.7–5.5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ED (น้ำเกลือเข้มข้นสูง)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7–15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น้ำทะเล (ภาพรวม)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2.58–8.5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9436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06060"/>
                </a:solidFill>
              </a:defRPr>
            </a:pPr>
            <a:r>
              <a:t>ทั้ง RO และ ED ทำได้ที่ประสิทธิภาพพลังงาน &gt;30% แต่ในสภาวะที่ต่างกัน — ED โดดเด่นที่น้ำป้อนต่ำกว่า 3 g/L, RO เหมาะที่สุดที่สูงกว่า 5 g/L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06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868680"/>
          </a:xfrm>
        </p:spPr>
        <p:txBody>
          <a:bodyPr/>
          <a:lstStyle/>
          <a:p>
            <a:r>
              <a:rPr sz="3000" b="1">
                <a:solidFill>
                  <a:srgbClr val="1F4E79"/>
                </a:solidFill>
              </a:rPr>
              <a:t>ความเสถียรของพลังงาน: ปัญหาและทางแก้ 3 ชั้น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417320"/>
            <a:ext cx="10972800" cy="475488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</a:rPr>
              <a:t>ชั้นที่ 1 — BESS: เก็บไฟฟ้าส่วนเกินจากช่วงแดดจัดหรือคลื่นแรง ปล่อยจ่ายให้ปั๊มและระบบควบคุมในช่วงที่พลังงานลดลง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</a:rPr>
              <a:t>ชั้นที่ 2 — Smart Load Prioritization: เซนเซอร์และระบบควบคุม/บันทึกข้อมูลต้องมีไฟเลี้ยง 24 ชั่วโมง ส่วนปั๊มแรงดันสูงเปิดเมื่อพลังงานผ่านเกณฑ์เสถียรเท่านั้น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</a:rPr>
              <a:t>ชั้นที่ 3 — Hybrid Backup Power: เตรียมแหล่งสำรองสำหรับกรณีอากาศปิดติดต่อกันหลายวัน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</a:rPr>
              <a:t>ต้องคำนวณขนาดความจุของแบตเตอรี่ให้เหมาะกับอัตราการกินไฟของปั๊มน้ำ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</a:rPr>
              <a:t>และออกแบบวงจรอินเวอร์เตอร์ให้แปลงพลังงานเสถียรพอก่อนป้อนเข้าสู่ระบบมอเตอร์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06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868680"/>
          </a:xfrm>
        </p:spPr>
        <p:txBody>
          <a:bodyPr/>
          <a:lstStyle/>
          <a:p>
            <a:r>
              <a:rPr sz="3000" b="1">
                <a:solidFill>
                  <a:srgbClr val="1F4E79"/>
                </a:solidFill>
              </a:rPr>
              <a:t>ทางเลือกที่ถูกกว่าแบตเตอรี่: กักเก็บ “น้ำ” แทนกักเก็บ “ไฟ”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417320"/>
            <a:ext cx="10972800" cy="475488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</a:rPr>
              <a:t>กรณีเกาะ King Island: ทางเลือกที่ประหยัดที่สุดคือติดตั้ง PV ขนาด 13 MW ให้เดินเครื่อง RO ตามสัดส่วนทันทีและผลิตน้ำจืดในเวลากลางวัน โดยไม่ต้องใช้การกักเก็บพลังงาน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606060"/>
                </a:solidFill>
              </a:rPr>
              <a:t>เก็บน้ำส่วนเกินในถัง 4 × 50 ML เพื่อป้อนความต้องการในช่วงที่แสงขาด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</a:rPr>
              <a:t>งานอื่นเรียกแนวคิดนี้ตรง ๆ ว่า buffer tank ทำหน้าที่เป็นอุปกรณ์กักเก็บพลังงานทดแทน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606060"/>
                </a:solidFill>
              </a:rPr>
              <a:t>รายงานว่าการเก็บน้ำจืดที่ผลิตได้ช่วยเพิ่มผลผลิตของระบบได้ถึง 36%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22222"/>
                </a:solidFill>
              </a:rPr>
              <a:t>แต่ต้นทุนแบตเตอรี่คือของจริง: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606060"/>
                </a:solidFill>
              </a:rPr>
              <a:t>ในระบบ PV+SWRO ขนาดใหญ่ CAPEX ของ PV อยู่ที่ 371.949 ล้านดอลลาร์ ขณะที่ระบบกักเก็บ NMC อยู่ที่ 561.723 ล้านดอลลาร์ ($876/kW และ $339/kWh)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606060"/>
                </a:solidFill>
              </a:rPr>
              <a:t>รวมระบบไฟฟ้าประมาณ 933.6 ล้านดอลลาร์ โดยส่วนสำคัญตกที่แบตเตอรี่เพราะ capacity factor ของ PV ต่ำ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606060"/>
                </a:solidFill>
              </a:rPr>
              <a:t>เมื่อรวมระบบกักเก็บ LCOE ของ PV สูงขึ้นเป็น 190% ของกรณีอ้างอิง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7220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06060"/>
                </a:solidFill>
              </a:defRPr>
            </a:pPr>
            <a:r>
              <a:t>สไลด์นี้แสดงว่าเราเข้าใจ trade-off ไม่ได้เสนอ BESS แบบไร้เงื่อนไข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060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868680"/>
          </a:xfrm>
        </p:spPr>
        <p:txBody>
          <a:bodyPr/>
          <a:lstStyle/>
          <a:p>
            <a:r>
              <a:rPr sz="3000" b="1">
                <a:solidFill>
                  <a:srgbClr val="1F4E79"/>
                </a:solidFill>
              </a:rPr>
              <a:t>ผลการศึกษาขั้นต้น: รู้อะไรแล้ว / ยังไม่รู้อะไร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417320"/>
            <a:ext cx="10972800" cy="475488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</a:rPr>
              <a:t>สิ่งที่ทำเสร็จแล้ว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606060"/>
                </a:solidFill>
              </a:rPr>
              <a:t>วิเคราะห์ปัญหาทางฟิสิกส์ของแนวคิดเดิมและเปลี่ยนกรอบเป็น Point Absorber WEC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606060"/>
                </a:solidFill>
              </a:rPr>
              <a:t>ออกแบบสถาปัตยกรรม 7 ระบบย่อยพร้อมระบบควบคุมกลาง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606060"/>
                </a:solidFill>
              </a:rPr>
              <a:t>กำหนดตัวแปรต้น–ตัวแปรตามและเกณฑ์ประเมินคุณภาพน้ำ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606060"/>
                </a:solidFill>
              </a:rPr>
              <a:t>วางกรอบเปรียบเทียบ ED/RO และกำหนดตัวชี้วัด 4 ตัว: SEC, ร้อยละการกำจัดเกลือ, อัตราการผลิตน้ำจืดเทียบน้ำเกลือเข้มข้น, ต้นทุนบำรุงรักษาเยื่อกรอง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</a:rPr>
              <a:t>สิ่งที่ยังไม่รู้ (ต้องได้จากข้อมูลจริง)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606060"/>
                </a:solidFill>
              </a:rPr>
              <a:t>บทที่ 4 ต้องกรอกผลที่ได้จากการทดลองจริง ไม่ควรใส่ตัวเลขสมมติเป็นผลการศึกษา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606060"/>
                </a:solidFill>
              </a:rPr>
              <a:t>ต้องแสดงผลตรวจจากห้องปฏิบัติการหรือหน่วยงานที่มีความสามารถเหมาะสมเมื่อจำเป็น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060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868680"/>
          </a:xfrm>
        </p:spPr>
        <p:txBody>
          <a:bodyPr/>
          <a:lstStyle/>
          <a:p>
            <a:r>
              <a:rPr sz="2600" b="1">
                <a:solidFill>
                  <a:srgbClr val="1F4E79"/>
                </a:solidFill>
              </a:rPr>
              <a:t>ตัวชี้วัดที่จะวัดจริงในบทที่ 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77240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หัวข้อ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สิ่งที่บันทึก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4.1 ระบบผลิตไฟฟ้า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ระดับน้ำ อัตราการไหล แรงดัน กระแส กำลังผลิต พลังงานสะสม (แยกผลกังหันน้ำ / Solar Cell / ทุ่น ออกจากกัน)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4.2 ชุดทุ่นและกลไกแปลงการเคลื่อนที่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มวล ระยะเคลื่อนที่ เวลาทำงาน พลังงานที่มอเตอร์ใช้ เทียบกับพลังงานที่ทุ่นผลิตได้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4.3 เปรียบเทียบ ED vs 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ความเค็มก่อน–หลังบำบัด ปริมาณน้ำจืด พลังงานที่ใช้ ปริมาณน้ำเกลือเข้มข้น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4.5 พลังงานสุทธิ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พลังงานที่ผลิตได้ หักพลังงานที่ใช้กับปั๊ม มอเตอร์ ระบบแยกเกลือ และระบบควบคุม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4.6 ต้นทุน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ต้นทุนวัสดุ ติดตั้ง บำรุงรักษา เปลี่ยนไส้กรอง/เยื่อ และต้นทุนพลังงานต่อปริมาตรน้ำจืด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060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868680"/>
          </a:xfrm>
        </p:spPr>
        <p:txBody>
          <a:bodyPr/>
          <a:lstStyle/>
          <a:p>
            <a:r>
              <a:rPr sz="2600" b="1">
                <a:solidFill>
                  <a:srgbClr val="1F4E79"/>
                </a:solidFill>
              </a:rPr>
              <a:t>มาตรฐานคุณภาพน้ำ: เกณฑ์ที่เราตั้งไว้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39" cy="19933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955279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พารามิเตอร์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เกณฑ์ของโครงการ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6.5 – 8.5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Turbidity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&lt; 5 NTU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TDS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&lt; 500 มก./ลิตร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จุลชีววิทยา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ไม่พบเชื้อโรคหรือแบคทีเรียปนเปื้อน ผ่านการฆ่าเชื้อด้วย UV-C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9436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06060"/>
                </a:solidFill>
              </a:defRPr>
            </a:pPr>
            <a:r>
              <a:t>ผลการทดสอบต้องผ่านเกณฑ์มาตรฐานองค์การอนามัยโลก หรือมาตรฐานน้ำประปาของ MWA/PWA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060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868680"/>
          </a:xfrm>
        </p:spPr>
        <p:txBody>
          <a:bodyPr/>
          <a:lstStyle/>
          <a:p>
            <a:r>
              <a:rPr sz="3000" b="1">
                <a:solidFill>
                  <a:srgbClr val="1F4E79"/>
                </a:solidFill>
              </a:rPr>
              <a:t>น้ำเกลือเข้มข้น: หลักฐานว่าจัดการได้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417320"/>
            <a:ext cx="10972800" cy="475488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</a:rPr>
              <a:t>ปัญหา: การแยกเกลือย่อมผลิตน้ำเกลือเข้มข้นเป็นผลพลอยได้ หากปล่อยลงสู่ชายฝั่งโดยตรงจะกระทบความเค็มและระบบนิเวศของสัตว์น้ำในพื้นที่ใกล้เคียง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22222"/>
                </a:solidFill>
              </a:rPr>
              <a:t>หลักฐานเชิงตัวเลขจากโรงงานจริง: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606060"/>
                </a:solidFill>
              </a:rPr>
              <a:t>น้ำเกลือจาก SWRO โดยทั่วไปมีความเค็มเป็นสองเท่าของน้ำทะเล ทำให้ความหนาแน่นสูงกว่าและจมลงสู่พื้นทะเล เกิดเป็น plume effect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606060"/>
                </a:solidFill>
              </a:rPr>
              <a:t>ที่โรงงาน Sorek ปล่อยน้ำเกลือด้วย diffuser 4 หัว ที่ความเร็ว 4.0 m/s ทำมุมขึ้น 45° พบ ∆S &gt; 5% เฉพาะใกล้จุดระบายและใกล้พื้นทะเลเท่านั้น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606060"/>
                </a:solidFill>
              </a:rPr>
              <a:t>พื้นที่ที่ความเค็มสูงกว่าระดับพื้นหลัง 1% (0.4 g/L) อยู่ในช่วง 3–24 km² โดย 0.4 g/L ยังอยู่ในช่วงการแปรผันตามธรรมชาติของน้ำชายฝั่ง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606060"/>
                </a:solidFill>
              </a:rPr>
              <a:t>ในสภาพที่มีการผสมดี ผลกระทบด้านลบจำกัดอยู่ในระยะไม่กี่ร้อยเมตรจากจุดระบาย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606060"/>
                </a:solidFill>
              </a:rPr>
              <a:t>ความเค็มที่เพิ่มขึ้น 10% เหนือระดับพื้นหลังไม่กระทบความอุดมสมบูรณ์หรืออัตราการเจริญเติบโต แต่สามารถเปลี่ยนโครงสร้างของชุมชนสิ่งมีชีวิตได้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</a:rPr>
              <a:t>ข้อเสนอ: ออกแบบหัวฉีดกระจายน้ำเกลือให้ผสมกลมกลืนกับมวลน้ำทะเลขนาดใหญ่ได้อย่างรวดเร็ว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060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868680"/>
          </a:xfrm>
        </p:spPr>
        <p:txBody>
          <a:bodyPr/>
          <a:lstStyle/>
          <a:p>
            <a:r>
              <a:rPr sz="2600" b="1">
                <a:solidFill>
                  <a:srgbClr val="1F4E79"/>
                </a:solidFill>
              </a:rPr>
              <a:t>แนวทางนำไปปฏิบัติ: Roadmap 4 ระยะ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19933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120640"/>
                <a:gridCol w="356616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ระยะ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ขอบเขต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เกณฑ์ผ่าน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1. Bench &amp; Tank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ทดสอบทุ่น + มวลถ่วงในบ่อพลังงาน วัดพลังงานที่มอเตอร์ใช้เทียบพลังงานที่ทุ่นผลิต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พลังงานสุทธิเป็นบวก หรือระบุชัดว่าติดลบเพราะอะไร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2. Component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ทดสอบ RO และ ED ด้วยน้ำดิบคุณภาพใกล้เคียงกัน ภายใต้เงื่อนไขเดียวกัน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ได้ SEC, Salt rejection, Recovery เทียบกันได้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3. Pilot on Island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ระบบขนาดเล็กที่เกาะเป้าหมาย พร้อม BESS + ถังน้ำสำรอง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น้ำผ่านเกณฑ์ pH 6.5–8.5, turbidity &lt;5 NTU, TDS &lt;500 มก./ลิตร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4. Scale-up &amp; IEE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ขยายขนาด ประเมินผลกระทบสิ่งแวดล้อม และแนวทางใช้ประโยชน์น้ำเกลือ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มีตัวเลข LCOW เทียบกับต้นทุนน้ำปัจจุบัน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060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868680"/>
          </a:xfrm>
        </p:spPr>
        <p:txBody>
          <a:bodyPr/>
          <a:lstStyle/>
          <a:p>
            <a:r>
              <a:rPr sz="3000" b="1">
                <a:solidFill>
                  <a:srgbClr val="1F4E79"/>
                </a:solidFill>
              </a:rPr>
              <a:t>การทดสอบในบ่อ: วินัยเรื่องสเกลที่ต้องพูดให้ครบ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417320"/>
            <a:ext cx="10972800" cy="475488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</a:rPr>
              <a:t>กฎสเกลของ Froude ให้กำลังสเกลตาม S^3.5 — การย่อ 1:20 ให้ตัวคูณกำลังเท่ากับ 35,777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</a:rPr>
              <a:t>แรงเสียดทานเชิงกลไม่สามารถย่อตามสเกลได้ จึงรบกวนผลการทดลอง อัตราส่วนสเกลที่เล็กเกินไปจึงไม่เหมาะสม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</a:rPr>
              <a:t>หากความกว้างหรือ draft ของแบบจำลองใกล้เคียงกับความกว้าง/ความลึกของบ่อ จะเกิด blockage effect และต้องแก้ข้อมูลการทดลอง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</a:rPr>
              <a:t>สำหรับงาน WEC โดยทั่วไปใช้ Froude number เพื่อรักษาความคล้ายทั้งทางจลนศาสตร์และพลศาสตร์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</a:rPr>
              <a:t>งานวิจัยที่เกี่ยวข้องใช้แบบจำลอง point absorber ที่สเกล 1/50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</a:rPr>
              <a:t>ข้อเสนอเชิงวิธีวิทยา: รายงานผลเป็นค่าอัตราส่วนไร้หน่วย (CWR หรือ η) ไม่ใช่กำลังเป็นวัตต์ เพื่อให้เทียบข้ามสเกลได้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060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868680"/>
          </a:xfrm>
        </p:spPr>
        <p:txBody>
          <a:bodyPr/>
          <a:lstStyle/>
          <a:p>
            <a:r>
              <a:rPr sz="2600" b="1">
                <a:solidFill>
                  <a:srgbClr val="1F4E79"/>
                </a:solidFill>
              </a:rPr>
              <a:t>หลักฐานเชิงข้อมูล: ตัวเลขที่ใช้อ้างอิงทั้งโครงงาน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3529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4754880"/>
                <a:gridCol w="265176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ตัวชี้วัด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ค่าอ้างอิงจากวรรณกรรม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ใช้ทำอะไร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SEC ของน้ำทะเล (ภาพรวม)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2.58–8.5 kWh/m³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ตั้งเป้าพลังงานของระบบ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พลังงานขั้นต่ำทางทฤษฎี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1.06 kWh/m³ ที่ 35,000 ppm, recovery 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ขอบเขตล่างของ RO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SWRO / BWRO / 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4–6 (มี ERD) / 0.5–2.5 / 0.7–5.5 kWh/m³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ตารางเปรียบเทียบ ED–RO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SEC ของ SWRO ในระบบจริง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3.3 kWh/m³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ฐานคำนวณ Battery Sizing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RO ขนาดเล็กบนเกาะ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4 kWh/m³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ฐานคำนวณกำลังไฟ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LCOW ของ PV-RO บนเกาะ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2.02 USD/m³ และไฟฟ้า 0.21 USD/kWh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เกณฑ์เทียบความคุ้มค่า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พื้นที่เกาะที่ติดตั้ง PV 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เพียง 2% ของพื้นที่เกาะ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ข้อจำกัด footprint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ราคาน้ำที่ขายจริงบนเกาะ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1.45 €/m³ (เกาะใหญ่) และ ~2.6 €/m³ (เกาะเล็กสุด)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เหตุผลเชิงเศรษฐศาสตร์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9436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06060"/>
                </a:solidFill>
              </a:defRPr>
            </a:pPr>
            <a:r>
              <a:t>LCOW 2.02 USD/m³ ยังถูกกว่าน้ำบริสุทธิ์ที่ขนจากแผ่นดินใหญ่ — เกาะ 634 แห่งพบ LCOE เฉลี่ย 0.234 USD/kWh สำหรับเกาะขนาดใหญ่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060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868680"/>
          </a:xfrm>
        </p:spPr>
        <p:txBody>
          <a:bodyPr/>
          <a:lstStyle/>
          <a:p>
            <a:r>
              <a:rPr sz="2600" b="1">
                <a:solidFill>
                  <a:srgbClr val="1F4E79"/>
                </a:solidFill>
              </a:rPr>
              <a:t>ความเสี่ยงและแผนรับมือ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19933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554480"/>
                <a:gridCol w="603504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ความเสี่ยง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ระดับ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แผนรับมือ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พลังงานคลื่นในอ่าวไทยต่ำเกินคุ้มทุน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สูง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ลดบทบาท WEC เป็นสาธิต ยกน้ำหนักให้กังหันน้ำและ PV หรือย้ายพื้นที่ศึกษากรณีไปฝั่งอันดามัน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การเดินเครื่องไม่ต่อเนื่องทำลายเมมเบรน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กลาง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ออกแบบโปรโตคอลล้างก่อนหยุด และเพิ่มถังน้ำสำรองเป็นบัฟเฟอร์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ชื่อระบบย่อยยังไม่สอดคล้องกับกรอบ WEC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ต่ำ แต่ถูกจับได้ง่าย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เปลี่ยนชื่อระบบย่อยที่ 2 และหัวข้อ 4.2 เป็น “ชุดทุ่นและกลไกแปลงการเคลื่อนที่” ให้ตรงกันทั้งเล่ม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ต้นทุนแบตเตอรี่ทำให้ไม่คุ้มค่า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กลาง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พิจารณาถังน้ำสำรองเป็นทางเลือกแรกสำหรับการกักเก็บระยะยาว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9436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06060"/>
                </a:solidFill>
              </a:defRPr>
            </a:pPr>
            <a:r>
              <a:t>การทดลอง NF/RO พบว่าที่ 1000 รอบการหยุดเครื่อง เมมเบรนยังรักษาความสมบูรณ์ได้ แต่การเพิ่มแรงดันย้อนกลับฝั่ง permeate 2–4 bar กลับทำให้สูญเสียความสมบูรณ์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060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868680"/>
          </a:xfrm>
        </p:spPr>
        <p:txBody>
          <a:bodyPr/>
          <a:lstStyle/>
          <a:p>
            <a:r>
              <a:rPr sz="3000" b="1">
                <a:solidFill>
                  <a:srgbClr val="1F4E79"/>
                </a:solidFill>
              </a:rPr>
              <a:t>สรุป 4 ข้อ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417320"/>
            <a:ext cx="10972800" cy="475488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</a:rPr>
              <a:t>1. Problem–Solution Fit: โจทย์คือการจับคู่ภาระไฟและภาระน้ำที่แปรผันไม่พร้อมกัน โซลูชันจึงต้องมีทั้งระบบควบคุมกลางและบัฟเฟอร์สองชนิด (แบตเตอรี่ + ถังน้ำ)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</a:rPr>
              <a:t>2. ผลการศึกษาขั้นต้น: กรอบคิดถูกต้องแล้วในระดับทฤษฎี (Point Absorber + ED/RO + การจัดการพลังงาน) แต่บทที่ 4 ยังต้องรอข้อมูลจริง ห้ามใส่ตัวเลขสมมติ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</a:rPr>
              <a:t>3. แนวทางนำไปใช้: เริ่มจากบ่อพลังงานและห้องปฏิบัติการ แล้วต่อยอดเป็นไพล็อตบนเกาะ โดยมีเกณฑ์ผ่านที่วัดได้ในทุกช่วง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</a:rPr>
              <a:t>4. หลักฐานเชิงข้อมูล: ตัวเลขทั้งหมดมีงานวิจัยรองรับ ตั้งแต่ SEC 2.58–8.5 kWh/m³ ไปจนถึง LCOW 2.02 USD/m³ และการทดลองเมมเบรน 1000 รอบการหยุดเครื่อง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060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